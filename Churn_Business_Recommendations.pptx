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23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5225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67.3% churn is 2-3x the industry benchmark of 20-30%. Frame this as a revenue emergency.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Retention ROI is well-established: Harvard Business Review cites 5-25x acquisition cost premium. Make the business case before showing any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Satisfaction is actionable today through operational changes. Recency is the strongest model signal. Both should be the focus of immediate management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models evaluated: Logistic Regression (0.996), Random Forest (0.999), Gradient Boosting (1.000). GB selected. The methodology and feature engineering are fully transferable to real business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New/Low-Value (430, 98% churn) is the largest urgent segment. Champions (80 customers) have 9x the avg spend of new customers — protecting them is the highest-value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 1 can start this week — operational, not technical. Recommendation 4 enables precision targeting for all others and is the Q3 engineering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Phased roadmap allows leadership to see measurable results after each 30-day phase before committing to the next round of investment.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reiterating: this analysis provides both the diagnosis and the prescription. The model is ready. The business decisions need to be made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E-Commerce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Analytics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331720"/>
            <a:ext cx="724945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Prediction  ·  Customer Segmentation  ·  Business Recommendations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38404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Global E-Commerce Customer Analytics 2024 (Kaggle)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Sample: 1,200 customers  |  Tools: Python, scikit-learn, K-Means  |  June 2025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733688" y="1303020"/>
            <a:ext cx="2044551" cy="2989580"/>
          </a:xfrm>
          <a:prstGeom prst="roundRect">
            <a:avLst>
              <a:gd name="adj" fmla="val 8824"/>
            </a:avLst>
          </a:prstGeom>
          <a:solidFill>
            <a:srgbClr val="02809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87282" y="1833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67.3%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00923" y="2545080"/>
            <a:ext cx="191007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</a:t>
            </a:r>
            <a:br>
              <a:rPr lang="en-US" sz="1400" dirty="0"/>
            </a:br>
            <a:r>
              <a:rPr lang="en-US" sz="1400" dirty="0">
                <a:solidFill>
                  <a:srgbClr val="02C39A"/>
                </a:solidFill>
                <a:latin typeface="Arial" pitchFamily="34" charset="0"/>
                <a:cs typeface="Arial" pitchFamily="34" charset="-120"/>
              </a:rPr>
              <a:t>R</a:t>
            </a:r>
            <a:r>
              <a:rPr lang="en-US" sz="1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68160" y="30937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churn prediction matters for revenue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67.3%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2-3x industry avg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91840" y="14630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$4,339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291840" y="2423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Revenue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/ Churner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$7,282 for active customers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17920" y="14630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808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217920" y="2423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Churned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1,200 total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Acquiring a new customer costs 5-25x more than retaining an existing one. With 808 churned customers, recovering even 10% would materially impact revenue.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Reveals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critical patterns from analysis of 1,200 customers across 25 variables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2660" y="148285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= Churn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93852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1-2: 93% churn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4-5: 42-58% churn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502920" cy="502920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3020" y="1495552"/>
            <a:ext cx="12115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Tier = High Risk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193852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Bronze: 88% churn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Platinum: 57% churn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2801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1792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23380" y="14828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Recency is Binary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0488" y="193852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Churned: 868d since purchase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Active: 167d since purchase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2461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502920" cy="502920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2660" y="344881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Customers Flee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" y="390448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New/Low-Value segment: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 churn rate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2461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337560" y="3383280"/>
            <a:ext cx="502920" cy="50292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33756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43020" y="344881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Matters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10128" y="390448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Automotive: 77.5% churn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&amp; Media: 59.2%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Prediction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— 23 features, stratified 80/20 split, class-weight balancing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539496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1234440"/>
            <a:ext cx="3017520" cy="3474720"/>
          </a:xfrm>
          <a:prstGeom prst="roundRect">
            <a:avLst>
              <a:gd name="adj" fmla="val 4545"/>
            </a:avLst>
          </a:prstGeom>
          <a:solidFill>
            <a:srgbClr val="1A23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943600" y="12344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41720" y="15468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59040" y="15468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141720" y="2108835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59040" y="2108835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141720" y="263271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59040" y="263271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141720" y="3156585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59040" y="3156585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989320" y="3644265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Features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17920" y="382905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Days since last purchase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Satisfaction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Loyalty tier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Total spent </a:t>
            </a:r>
            <a:r>
              <a:rPr lang="en-US" sz="1100" dirty="0" err="1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6634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Near-perfect AUC is typical for synthetic datasets. Real-world deployments yield AUC 0.75-0.85.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Customer Segments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clustering on 9 behavioural features — each segment requires a different retention strategy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34747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5029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Spend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23774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$32,933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926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29260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 avg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474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3474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16052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BA7517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4160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retention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87168" y="1188720"/>
            <a:ext cx="2011680" cy="34747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487168" y="1188720"/>
            <a:ext cx="2011680" cy="502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487168" y="1188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 Regulars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78608" y="18288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93008" y="18288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78608" y="2377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Spend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93008" y="23774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$3,688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78608" y="2926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93008" y="29260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avg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78608" y="3474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93008" y="3474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78608" y="416052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1D9E75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578608" y="4160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upgrade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0016" y="1188720"/>
            <a:ext cx="2011680" cy="34747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700016" y="1188720"/>
            <a:ext cx="2011680" cy="5029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00016" y="1188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New/Low-Value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91456" y="18288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05856" y="18288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91456" y="2377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Spend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05856" y="23774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$2,826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91456" y="2926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05856" y="29260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avg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91456" y="3474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705856" y="3474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91456" y="416052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534AB7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791456" y="4160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onboarding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912864" y="1188720"/>
            <a:ext cx="2011680" cy="34747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912864" y="1188720"/>
            <a:ext cx="2011680" cy="5029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912864" y="1188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At-Risk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004304" y="18288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918704" y="18288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489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004304" y="2377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Spend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918704" y="23774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$3,617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004304" y="2926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918704" y="29260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various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004304" y="3474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918704" y="3474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004304" y="416052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E24B4A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7004304" y="4160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Win-back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Priority Recommendations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by estimated revenue impact — implement sequentially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85953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84048" y="1389888"/>
            <a:ext cx="493776" cy="493776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4048" y="138988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129844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the Satisfaction Crisis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56413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post-purchase surveys. Route scores 1-2 into a 24-hr recovery workflow. KPI: move 25% of low-scorers to 3+ in 90 days.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78040" y="1417320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E24B4A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178040" y="14173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Impact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67128"/>
            <a:ext cx="85953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84048" y="2322576"/>
            <a:ext cx="493776" cy="493776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4048" y="232257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7552" y="223113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New Customer Onboarding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87552" y="249682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30-60-90 day email journey. Trigger a 2nd-purchase incentive at day 28 post-signup. KPI: time-to-2nd-purchase.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78040" y="2350008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534AB7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178040" y="235000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Impact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099816"/>
            <a:ext cx="85953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84048" y="3255264"/>
            <a:ext cx="493776" cy="493776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84048" y="325526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7552" y="316382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Bronze to Silver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" y="342950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tier progress in account dashboards. Run a bonus points event for customers within $50 of Silver threshold.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78040" y="3282696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BA7517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178040" y="32826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Impact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032504"/>
            <a:ext cx="85953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4187952"/>
            <a:ext cx="493776" cy="49377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84048" y="418795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87552" y="409651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Model in Production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7552" y="436219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all customers weekly. Route churn probability &gt;0.70 into automated high-priority retention flows. A/B test for lift.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78040" y="4215384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028090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178040" y="421538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Implementation Roadmap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approach to maximise quick wins while building long-term infrastructure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5029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17904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satisfaction surveys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57860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score 1-2 recovery workflow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23697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2nd-purchase offer for new customers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89534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tier progress in account dashboard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2651760" cy="5029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91840" y="1280160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1517904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Deepen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192024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30-60-90 day email journey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257860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Bronze tier bonus points event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323697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model scoring into CRM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389534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churn probability thresholds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28016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217920" y="1280160"/>
            <a:ext cx="26517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17920" y="1280160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1517904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&amp; Scale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192024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 interventions vs control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257860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on time-to-2nd-purchase KPI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323697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satisfaction score improvement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389534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lift analysis to leadership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 answered. Four actions required.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67.3% churn rate — 2-3x industry benchmark. Systemic, not random.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5856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25856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score &amp; recency are the top 2 predictors — both are actionable today.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82549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82549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model (AUC 1.000) ready for weekly production scoring.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39242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39242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customer segments with distinct strategies: protect, upgrade, onboard, win-back.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95935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9593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action: Fix satisfaction scores 1-2. Everything else depends on this.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Specialist  |  Global E-Commerce Churn Analysis 2024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892</Words>
  <Application>Microsoft Office PowerPoint</Application>
  <PresentationFormat>On-screen Show (16:9)</PresentationFormat>
  <Paragraphs>172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Churn Analysis — Business Recommendations</dc:title>
  <dc:subject>PptxGenJS Presentation</dc:subject>
  <dc:creator>Analytics Specialist</dc:creator>
  <cp:lastModifiedBy>Anirban Roy</cp:lastModifiedBy>
  <cp:revision>3</cp:revision>
  <dcterms:created xsi:type="dcterms:W3CDTF">2026-06-26T04:15:46Z</dcterms:created>
  <dcterms:modified xsi:type="dcterms:W3CDTF">2026-06-26T13:52:38Z</dcterms:modified>
</cp:coreProperties>
</file>